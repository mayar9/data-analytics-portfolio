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16" r:id="rId3"/>
    <p:sldId id="31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3B42-F81D-C8F4-DDF8-3DC3C4916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2E1BC-622E-F879-BAA1-72B9F4FA1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2DCF-7E5A-516A-ED49-B15AB642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C2C7-7270-F757-744F-F6C3107E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1B0B-5CDC-0F97-5C88-875073B6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D7E4-0F9B-CE25-3F3A-51C68B95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2CE0-4BE8-C121-AA46-A82D204B3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C7015-C503-F9F5-C9E5-AE414B9D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6C14F-A4BB-F922-BC2A-5A38AFE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37EA1-1FCB-0592-C04A-E96895FE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9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65D4-2031-AB16-6F02-89C3CC05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80EE6-DB3B-56F8-04B7-B492D313D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975E9-78D0-46D6-7895-97AE23D3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18937-DA75-F14A-1B51-CD031C5E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4355D-71D4-C271-1484-CDD65442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0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4AF8-AE35-0618-84EB-CB359932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32C98-26A3-E9EB-C4F8-22A02F9DB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0801D-4630-1206-9FFD-2A4F894A2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D52B5-7A59-DE53-47AC-6959D4F7C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D01E4-9872-0026-7684-BBD6C9BA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2D293-6C23-C5FC-114A-121FA2E7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B7F5-B05A-3F3A-2B39-5C064F85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69206-5CAB-FAC6-74FA-6DDCDE8B4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1500B-CBA2-8522-BBFF-26CAC2156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74A7C-6EC5-A4B8-047A-723A06C00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F4A4A-02C1-629F-2EC9-33B052191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547B3-AD22-E4B7-3C53-13CF384D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1293B-76BC-B7AC-8DBA-8A40AD9B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50266-4534-18BF-3272-E6DBD7FA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9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A6B3-303B-49D2-37BA-CE937751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7804B-0FEC-0B80-FAED-EAC82207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2E17-9D34-59A1-2034-4E666635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54F36-57BA-83E7-8347-9A120342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2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04859-6294-A5DE-B843-C31FD3B3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42C6-1ACB-25E3-2735-E0B04BF7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F8DFD-5087-DD8A-3F45-739199A9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1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D541-772C-481B-5A79-C637FAC7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04AF1-FC42-D78D-BCAC-E18DD627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CFA82-2697-05F7-5101-C7235CBD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BF766-59EA-0C5F-DC07-9E101027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7B746-7D2C-5335-6721-480AC7BF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7A9BC-FB59-2BF0-8C8A-2119A397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0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127D-2776-23D3-78BC-320332A8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3B0FC-341F-8854-F4DA-2E2156CDD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4850A-A4C2-6565-D892-A8F4F5D66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00B88-401F-673A-F194-5EAFA030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A7E71-7E0A-B45F-5AFB-741B2B5C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FC7BD-C5E6-CB3F-4680-0C6466C5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0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D16B-D486-3AB2-83A3-D245301F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B48D8-71F6-CFEC-0BC3-E0D483D24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E67A1-AE44-F639-174A-67DFCF39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3AC2-046A-1967-7722-0CAA64D8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D085-E470-2A97-5BB7-046A6110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FC250-1A29-CDBD-28A1-AF5362D8C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3F1AF-5233-00C9-348A-246C20296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53493-1624-0497-38C3-DCA7C045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A02B-9743-B28C-EF45-6172316D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8089-A8BA-FCEA-D872-AB014752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9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E4C1E-D289-870D-87FD-05E58AC0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BC138-0241-9FA4-B6EF-A3D4F1B8D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AA089-7F8A-57AC-EE39-F486238EA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7F539-8F78-49D0-A512-9B4E935EA62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086CE-C552-7D68-CB16-CF673FADD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C4DA9-3B6F-BB0C-9058-B3011462F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69714-F199-4A27-9BD3-E7AFD683F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2909C2-66FE-D25D-C6AF-7DC1EAF3B72A}"/>
              </a:ext>
            </a:extLst>
          </p:cNvPr>
          <p:cNvSpPr txBox="1"/>
          <p:nvPr/>
        </p:nvSpPr>
        <p:spPr>
          <a:xfrm>
            <a:off x="215153" y="197223"/>
            <a:ext cx="1108934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Goals:</a:t>
            </a:r>
          </a:p>
          <a:p>
            <a:pPr marL="342900" indent="-342900">
              <a:buAutoNum type="arabicPeriod"/>
            </a:pPr>
            <a:r>
              <a:rPr lang="en-US" sz="1400" dirty="0"/>
              <a:t>One Page Report includes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Product Brand Performance (total </a:t>
            </a:r>
            <a:r>
              <a:rPr lang="en-US" sz="1400" dirty="0" err="1"/>
              <a:t>trxs</a:t>
            </a:r>
            <a:r>
              <a:rPr lang="en-US" sz="1400" dirty="0"/>
              <a:t>, return%, </a:t>
            </a:r>
            <a:r>
              <a:rPr lang="en-US" sz="1400" dirty="0" err="1"/>
              <a:t>profitmargin</a:t>
            </a:r>
            <a:r>
              <a:rPr lang="en-US" sz="1400" dirty="0"/>
              <a:t>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MTM representation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Regional Performance (</a:t>
            </a:r>
            <a:r>
              <a:rPr lang="en-US" sz="1400" dirty="0" err="1"/>
              <a:t>trxs</a:t>
            </a:r>
            <a:r>
              <a:rPr lang="en-US" sz="1400" dirty="0"/>
              <a:t> --- </a:t>
            </a:r>
            <a:r>
              <a:rPr lang="en-US" sz="1400" dirty="0" err="1"/>
              <a:t>Country&amp;City</a:t>
            </a:r>
            <a:r>
              <a:rPr lang="en-US" sz="14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Weekly Revenue Trending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Benchmark Revenue Vs Actual Revenue</a:t>
            </a:r>
          </a:p>
          <a:p>
            <a:endParaRPr lang="en-US" sz="1400" dirty="0"/>
          </a:p>
          <a:p>
            <a:r>
              <a:rPr lang="en-US" sz="1600" b="1" u="sng" dirty="0">
                <a:highlight>
                  <a:srgbClr val="00FF00"/>
                </a:highlight>
              </a:rPr>
              <a:t>IMPLEMENTATION </a:t>
            </a:r>
          </a:p>
          <a:p>
            <a:r>
              <a:rPr lang="en-US" sz="1400" b="1" dirty="0"/>
              <a:t>Extract</a:t>
            </a:r>
          </a:p>
          <a:p>
            <a:r>
              <a:rPr lang="en-US" sz="1200" dirty="0"/>
              <a:t>Customers – Products – Calendar – Stores – Region -  Transactions - Returns</a:t>
            </a:r>
          </a:p>
          <a:p>
            <a:endParaRPr lang="en-US" sz="1200" dirty="0"/>
          </a:p>
          <a:p>
            <a:r>
              <a:rPr lang="en-US" sz="1400" b="1" dirty="0"/>
              <a:t>Transformation Stage (POWER QUERY)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Customers Lookup: create merged column (Full Name)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Customers Lookup: extract “Birth Year” from “Birth date”  column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Customers Lookup: add “</a:t>
            </a:r>
            <a:r>
              <a:rPr lang="en-US" sz="1200" dirty="0" err="1"/>
              <a:t>has_children</a:t>
            </a:r>
            <a:r>
              <a:rPr lang="en-US" sz="1200" dirty="0"/>
              <a:t>?“ conditional column with (“Yes”, “No”)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Products Lookup: add “Price After Discount 10%” column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Stores Lookup: merge “Store City” &amp; “Store State” columns in “Full Address” column</a:t>
            </a:r>
            <a:endParaRPr lang="en-US" sz="1200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Stores Lookup: extract “Area Code” from “Store Phone”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Calendar Lookup: add “Start of Week”, “Day Name”, Start of Month” , “Month Name”, “Quarter”, “Year”</a:t>
            </a:r>
          </a:p>
          <a:p>
            <a:endParaRPr lang="en-US" sz="1400" b="1" dirty="0"/>
          </a:p>
          <a:p>
            <a:r>
              <a:rPr lang="en-US" sz="1400" b="1" dirty="0"/>
              <a:t>Data View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Format dates columns in all models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Categorize Country &amp; Continent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Hierarchy creation (Territory, Date)</a:t>
            </a:r>
          </a:p>
          <a:p>
            <a:endParaRPr lang="en-US" sz="1200" dirty="0"/>
          </a:p>
          <a:p>
            <a:r>
              <a:rPr lang="en-US" sz="1400" b="1" dirty="0"/>
              <a:t>Model 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primary key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 relationships based on primary key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Hide foreign keys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Design Model layouts (All Data, Sales Data, Return Data) </a:t>
            </a:r>
          </a:p>
        </p:txBody>
      </p:sp>
    </p:spTree>
    <p:extLst>
      <p:ext uri="{BB962C8B-B14F-4D97-AF65-F5344CB8AC3E}">
        <p14:creationId xmlns:p14="http://schemas.microsoft.com/office/powerpoint/2010/main" val="226516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4778D-C4A7-3340-C1B6-17B5BFFDFC3A}"/>
              </a:ext>
            </a:extLst>
          </p:cNvPr>
          <p:cNvSpPr txBox="1"/>
          <p:nvPr/>
        </p:nvSpPr>
        <p:spPr>
          <a:xfrm>
            <a:off x="0" y="496722"/>
            <a:ext cx="11053482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Transactions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Profit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Cost]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Profit Margin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 Rate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[Quantity Returned]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[Quantity Sold]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/>
              <a:t>-------------------------------------------------------------------------------------------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[quantity]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RELATED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Products[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product_retail_price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Cost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[quantity]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RELATED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Products[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product_cost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Quantity Returned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Return_Data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[quantity]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Quantity Sold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[quantity]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00EF5-133A-7FB3-9987-B093C6D0B4E5}"/>
              </a:ext>
            </a:extLst>
          </p:cNvPr>
          <p:cNvSpPr txBox="1"/>
          <p:nvPr/>
        </p:nvSpPr>
        <p:spPr>
          <a:xfrm>
            <a:off x="0" y="2817093"/>
            <a:ext cx="11196917" cy="738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 Month Transactions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Transactions]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 Month Profit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 Month Returns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Returns]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23585-4C9C-5D5B-596E-61C0AD55ECDB}"/>
              </a:ext>
            </a:extLst>
          </p:cNvPr>
          <p:cNvSpPr txBox="1"/>
          <p:nvPr/>
        </p:nvSpPr>
        <p:spPr>
          <a:xfrm>
            <a:off x="0" y="3842444"/>
            <a:ext cx="4563036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 Revenue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[Last Month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AF94E-DD9E-0B95-1360-6B3BBC20955E}"/>
              </a:ext>
            </a:extLst>
          </p:cNvPr>
          <p:cNvSpPr txBox="1"/>
          <p:nvPr/>
        </p:nvSpPr>
        <p:spPr>
          <a:xfrm>
            <a:off x="0" y="4611231"/>
            <a:ext cx="11546541" cy="22467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 Weekend Transactions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[Weekend Transactions]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Transactions]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60-Day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DATESINPERIOD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 Returns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Returns]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 Transactions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Transactions]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Transaction_Data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 Month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 Revenue Gap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[Target Revenue]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Returns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 Products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DISTINCTCOUNT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Products[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product_id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Weekend Transactions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Transactions]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'Calendar'[Weekend]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YTD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DATESYTD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994725-6741-74BA-7ABC-29C9C9BF9A40}"/>
              </a:ext>
            </a:extLst>
          </p:cNvPr>
          <p:cNvCxnSpPr/>
          <p:nvPr/>
        </p:nvCxnSpPr>
        <p:spPr>
          <a:xfrm>
            <a:off x="0" y="4329953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A5B946-673C-344B-CEB6-4482DBE28E5D}"/>
              </a:ext>
            </a:extLst>
          </p:cNvPr>
          <p:cNvSpPr/>
          <p:nvPr/>
        </p:nvSpPr>
        <p:spPr>
          <a:xfrm>
            <a:off x="0" y="0"/>
            <a:ext cx="1703294" cy="4303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Measures</a:t>
            </a:r>
          </a:p>
        </p:txBody>
      </p:sp>
    </p:spTree>
    <p:extLst>
      <p:ext uri="{BB962C8B-B14F-4D97-AF65-F5344CB8AC3E}">
        <p14:creationId xmlns:p14="http://schemas.microsoft.com/office/powerpoint/2010/main" val="779919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0767B-CF0E-CFB9-2CF8-776CBBACB281}"/>
              </a:ext>
            </a:extLst>
          </p:cNvPr>
          <p:cNvSpPr txBox="1"/>
          <p:nvPr/>
        </p:nvSpPr>
        <p:spPr>
          <a:xfrm>
            <a:off x="161364" y="502022"/>
            <a:ext cx="94398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Calendar Calculated columns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 of Month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ENDOFMONTH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Weekend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'Calendar'[date]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200" dirty="0"/>
          </a:p>
          <a:p>
            <a:r>
              <a:rPr lang="en-US" sz="1200" b="1" u="sng" dirty="0"/>
              <a:t>Customers Calculated columns</a:t>
            </a:r>
            <a:endParaRPr lang="en-US" sz="1200" dirty="0"/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 Age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DATEDIFF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Customers[birthdate]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House Number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customer_address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customer_address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Priority = </a:t>
            </a:r>
          </a:p>
          <a:p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Customers[homeowner]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member_card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"Golden"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"Standard"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Short Country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customer_country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sz="1200" dirty="0"/>
          </a:p>
          <a:p>
            <a:r>
              <a:rPr lang="en-US" sz="1200" b="1" u="sng" dirty="0"/>
              <a:t>Products Calculated columns</a:t>
            </a:r>
            <a:endParaRPr lang="en-US" sz="1200" dirty="0"/>
          </a:p>
          <a:p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Price_Tier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product_retail_price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product_retail_price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"Low"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200" dirty="0"/>
          </a:p>
          <a:p>
            <a:r>
              <a:rPr lang="en-US" sz="1200" b="1" u="sng" dirty="0"/>
              <a:t>Stores Calculated columns</a:t>
            </a:r>
            <a:endParaRPr lang="en-US" sz="1200" dirty="0"/>
          </a:p>
          <a:p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Years_Since_Remodel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DATEDIFF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Stores[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last_remodel_date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B1EDB4-BEFD-EA11-E4A4-D50FB71E5A60}"/>
              </a:ext>
            </a:extLst>
          </p:cNvPr>
          <p:cNvSpPr/>
          <p:nvPr/>
        </p:nvSpPr>
        <p:spPr>
          <a:xfrm>
            <a:off x="0" y="0"/>
            <a:ext cx="2743200" cy="3765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Calculated Columns</a:t>
            </a:r>
          </a:p>
        </p:txBody>
      </p:sp>
    </p:spTree>
    <p:extLst>
      <p:ext uri="{BB962C8B-B14F-4D97-AF65-F5344CB8AC3E}">
        <p14:creationId xmlns:p14="http://schemas.microsoft.com/office/powerpoint/2010/main" val="232866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Widescreen</PresentationFormat>
  <Paragraphs>82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Mayar Hassan</dc:creator>
  <cp:lastModifiedBy>Mayar Hassan</cp:lastModifiedBy>
  <cp:revision>1</cp:revision>
  <dcterms:created xsi:type="dcterms:W3CDTF">2026-04-24T15:38:27Z</dcterms:created>
  <dcterms:modified xsi:type="dcterms:W3CDTF">2026-04-24T15:39:04Z</dcterms:modified>
</cp:coreProperties>
</file>
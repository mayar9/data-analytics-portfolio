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8" r:id="rId2"/>
    <p:sldId id="312" r:id="rId3"/>
    <p:sldId id="313" r:id="rId4"/>
    <p:sldId id="314" r:id="rId5"/>
    <p:sldId id="315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A51DDE-89C6-3B0B-874A-743125945F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536C03-88A5-C7F0-786B-485704963C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9866DC-2AB9-A989-7583-EBE166450B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4902B-F785-4CAA-BF01-116307092758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8E0959-688D-B2A7-69EB-2C9B2D725F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FE4384-D74B-9645-F879-65E06E539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B4CC5-ED8D-49BB-9AD3-57AC47405A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15711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544C86-C38A-9498-A960-1F3EDDC973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EF1134-1EFA-0753-BF3A-B395C7E0BC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0A2229-6632-A641-B6D5-2F82B435C8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4902B-F785-4CAA-BF01-116307092758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887CFE-0C25-0D11-4339-23EA2ED420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5FFA1B-605B-28BD-8E2F-F97F78C76E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B4CC5-ED8D-49BB-9AD3-57AC47405A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84278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B4D2D9-EA16-0D3E-8E83-A15B69341A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A82CA0-7733-343D-A11D-DD5F90A869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D3CC19-F674-EEFF-A39F-D927376361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4902B-F785-4CAA-BF01-116307092758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59D2D5-CD4B-FBC7-A779-6B12EE1567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44FEEB-CF07-5E13-5104-C6A9E65C6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B4CC5-ED8D-49BB-9AD3-57AC47405A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93064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BE7B99-AAB5-11D8-B1C9-FA4717C545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23F74A-F145-2DB7-E8D2-45D4534820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893788-7E45-9846-7E35-61511590D1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F1F5AB-46F0-6BD5-2591-711160CD3C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4902B-F785-4CAA-BF01-116307092758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D08EA4-DA1A-415B-8A69-59AC89F74F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23707E-335B-4E9B-C1FC-8D18C47C4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B4CC5-ED8D-49BB-9AD3-57AC47405A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86305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1FFADA-4FE7-8300-832D-B133A5CC58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3F673A-AC06-7FA6-3BD8-E1D7C8B1E4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FABA8C-8A43-83C4-C511-711BC899A6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6B54615-F06B-1FBB-4BBE-B990CE8890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3473845-B415-B8BE-F6EB-83684EB3297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46B460D-800B-1776-9425-AC7DCBBF97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4902B-F785-4CAA-BF01-116307092758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937FB91-81E7-145A-58C3-C8D802540B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4101FF0-E81B-E8ED-2E40-136DAA5A93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B4CC5-ED8D-49BB-9AD3-57AC47405A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9275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D1EEA4-EB31-7594-FDE2-1648919402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8C89CC-F3C2-36E7-6A64-F6122AEAAB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4902B-F785-4CAA-BF01-116307092758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3021298-87E3-38A8-698C-2AD6BAF73B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8F67A6-B938-3561-9A76-FD17EC62F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B4CC5-ED8D-49BB-9AD3-57AC47405A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6392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1CB8450-E756-EB31-9698-B84127B1C7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4902B-F785-4CAA-BF01-116307092758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47CE13C-76EA-8EC4-5EF3-2A1AA9C183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B3E10A-646E-CC10-6EF0-FD1B38C29F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B4CC5-ED8D-49BB-9AD3-57AC47405A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2412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7C8A40-27CD-B64F-8E8F-2BB48FAD1C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84F5CA-2A85-CC9E-3312-4AFA5BED75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3BC21E-3463-F215-E203-5FC5DE3D60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F2400D-611A-BADF-4F1A-1A2200E79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4902B-F785-4CAA-BF01-116307092758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94F59E-28B7-D9CC-DC32-34063ABD0D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6A4A73-5F32-1959-476C-B03586279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B4CC5-ED8D-49BB-9AD3-57AC47405A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30054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A92445-2ED4-8369-0AB8-CE48BE995B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FE41B3C-EF33-89A6-7020-80CC42C7C5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FD3C6A-3D70-9BA0-9043-2F2A0A1BC0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6CB8BB-79D4-7803-36B2-CBF6B314F6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4902B-F785-4CAA-BF01-116307092758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43A816-2397-1FB6-514C-0C0EF65991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2C3E0B-4EEB-B9D5-598F-CD5F574CA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B4CC5-ED8D-49BB-9AD3-57AC47405A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14401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9A3BB9-C717-9AEB-316A-C2DFEC7274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9EBAA9-0310-41E7-CBAF-912310E9A7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9C1E80-5F51-BC1F-2C12-B54673BFF1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4902B-F785-4CAA-BF01-116307092758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F56E94-38ED-5F01-E8D3-6F256A455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E9424E-20B2-78F8-D8D6-20B51E70A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B4CC5-ED8D-49BB-9AD3-57AC47405A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2496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1AF41D3-5F38-FCEC-26D2-4E2CAE7E27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386181-678B-3AF4-FFA9-F5D1ED5ED7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7DA104-385E-8D09-2EA2-DD23B4BAD3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4902B-F785-4CAA-BF01-116307092758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0A996E-991B-7D63-17E0-8D3284D22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EF538F-4F63-9B1D-7CA7-61B9AA5D6B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B4CC5-ED8D-49BB-9AD3-57AC47405A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89795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85FDA74-C1F1-5F82-A198-2ECCE81332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26E178-BA3E-2B6C-EFB8-83B4B3D7EB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DD3027-54D5-415E-D385-C6197C387C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D4902B-F785-4CAA-BF01-116307092758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9DB62C-E113-90AC-4DAE-274D0B8778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EB65FD-3125-58C0-6670-8F4BC643AB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1B4CC5-ED8D-49BB-9AD3-57AC47405A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85685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08FE28F-7C2C-A508-07FC-DB6C4A2D3952}"/>
              </a:ext>
            </a:extLst>
          </p:cNvPr>
          <p:cNvSpPr txBox="1"/>
          <p:nvPr/>
        </p:nvSpPr>
        <p:spPr>
          <a:xfrm>
            <a:off x="215153" y="197223"/>
            <a:ext cx="11089341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/>
              <a:t>Goals:</a:t>
            </a:r>
          </a:p>
          <a:p>
            <a:pPr marL="342900" indent="-342900">
              <a:buAutoNum type="arabicPeriod"/>
            </a:pPr>
            <a:r>
              <a:rPr lang="en-US" sz="1400" dirty="0"/>
              <a:t>Track KPIs  (High Level) </a:t>
            </a:r>
          </a:p>
          <a:p>
            <a:pPr marL="342900" indent="-342900">
              <a:buAutoNum type="arabicPeriod"/>
            </a:pPr>
            <a:r>
              <a:rPr lang="en-US" sz="1400" dirty="0"/>
              <a:t>Compare Regional Performance</a:t>
            </a:r>
          </a:p>
          <a:p>
            <a:pPr marL="342900" indent="-342900">
              <a:buAutoNum type="arabicPeriod"/>
            </a:pPr>
            <a:r>
              <a:rPr lang="en-US" sz="1400" dirty="0"/>
              <a:t>Identify high value customers </a:t>
            </a:r>
          </a:p>
          <a:p>
            <a:pPr marL="342900" indent="-342900">
              <a:buAutoNum type="arabicPeriod"/>
            </a:pPr>
            <a:r>
              <a:rPr lang="en-US" sz="1400" dirty="0"/>
              <a:t>Analyze product-level trends </a:t>
            </a:r>
          </a:p>
          <a:p>
            <a:endParaRPr lang="en-US" sz="1400" dirty="0"/>
          </a:p>
          <a:p>
            <a:r>
              <a:rPr lang="en-US" sz="1600" b="1" u="sng" dirty="0">
                <a:highlight>
                  <a:srgbClr val="00FF00"/>
                </a:highlight>
              </a:rPr>
              <a:t>IMPLEMENTATION </a:t>
            </a:r>
          </a:p>
          <a:p>
            <a:r>
              <a:rPr lang="en-US" sz="1400" b="1" dirty="0"/>
              <a:t>Extract</a:t>
            </a:r>
          </a:p>
          <a:p>
            <a:r>
              <a:rPr lang="en-US" sz="1200" dirty="0">
                <a:highlight>
                  <a:srgbClr val="008080"/>
                </a:highlight>
              </a:rPr>
              <a:t>Territory lookup </a:t>
            </a:r>
            <a:r>
              <a:rPr lang="en-US" sz="1200" dirty="0"/>
              <a:t>– </a:t>
            </a:r>
            <a:r>
              <a:rPr lang="en-US" sz="1200" dirty="0">
                <a:highlight>
                  <a:srgbClr val="00FFFF"/>
                </a:highlight>
              </a:rPr>
              <a:t>Product lookup – Product Category lookup – Product Sub-category lookup </a:t>
            </a:r>
            <a:r>
              <a:rPr lang="en-US" sz="1200" dirty="0"/>
              <a:t>– </a:t>
            </a:r>
            <a:r>
              <a:rPr lang="en-US" sz="1200" dirty="0">
                <a:highlight>
                  <a:srgbClr val="C0C0C0"/>
                </a:highlight>
              </a:rPr>
              <a:t>Customer lookup </a:t>
            </a:r>
            <a:r>
              <a:rPr lang="en-US" sz="1200" dirty="0"/>
              <a:t>– </a:t>
            </a:r>
            <a:r>
              <a:rPr lang="en-US" sz="1200" dirty="0">
                <a:highlight>
                  <a:srgbClr val="008000"/>
                </a:highlight>
              </a:rPr>
              <a:t>Calendar lookup </a:t>
            </a:r>
            <a:r>
              <a:rPr lang="en-US" sz="1200" dirty="0"/>
              <a:t>– </a:t>
            </a:r>
            <a:r>
              <a:rPr lang="en-US" sz="1200" dirty="0">
                <a:highlight>
                  <a:srgbClr val="FF00FF"/>
                </a:highlight>
              </a:rPr>
              <a:t>Sales Data (Fact) – Return Data (Fact) </a:t>
            </a:r>
          </a:p>
          <a:p>
            <a:endParaRPr lang="en-US" sz="1200" dirty="0"/>
          </a:p>
          <a:p>
            <a:endParaRPr lang="en-US" sz="1200" dirty="0"/>
          </a:p>
          <a:p>
            <a:r>
              <a:rPr lang="en-US" sz="1400" b="1" dirty="0"/>
              <a:t>Transformation Stage (POWER QUERY)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Remove Product Size in Product Lookup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Change datatype of product Cost &amp; product Price in Product Lookup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Add columns in Calendar lookup (Day Name, Start of Week, Start of Month, Start of Quarter, Year)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Create new column SKU Type From Product SKU in product lookup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Product Style </a:t>
            </a:r>
            <a:r>
              <a:rPr lang="en-US" sz="1200" dirty="0">
                <a:sym typeface="Wingdings" panose="05000000000000000000" pitchFamily="2" charset="2"/>
              </a:rPr>
              <a:t> replace NA with 0  in product lookup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ym typeface="Wingdings" panose="05000000000000000000" pitchFamily="2" charset="2"/>
              </a:rPr>
              <a:t>Domain Name = email(extract domain name like google)</a:t>
            </a:r>
            <a:endParaRPr lang="en-US" sz="1200" dirty="0"/>
          </a:p>
          <a:p>
            <a:endParaRPr lang="en-US" sz="1400" b="1" dirty="0"/>
          </a:p>
          <a:p>
            <a:endParaRPr lang="en-US" sz="1400" b="1" dirty="0"/>
          </a:p>
          <a:p>
            <a:r>
              <a:rPr lang="en-US" sz="1400" b="1" dirty="0"/>
              <a:t>Data View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Format dates columns in all models 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Categorize Country &amp; Continent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Hierarchy creation (Territory, Date)</a:t>
            </a:r>
          </a:p>
          <a:p>
            <a:endParaRPr lang="en-US" sz="1200" dirty="0"/>
          </a:p>
          <a:p>
            <a:r>
              <a:rPr lang="en-US" sz="1400" b="1" dirty="0"/>
              <a:t>Model View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Select primary key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Create relationships based on primary key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Hide foreign keys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Design Model layouts (All Data, Sales Data, Return Data) </a:t>
            </a:r>
          </a:p>
        </p:txBody>
      </p:sp>
    </p:spTree>
    <p:extLst>
      <p:ext uri="{BB962C8B-B14F-4D97-AF65-F5344CB8AC3E}">
        <p14:creationId xmlns:p14="http://schemas.microsoft.com/office/powerpoint/2010/main" val="35501886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B9856E-CA97-CE15-D767-2D902C034B8B}"/>
              </a:ext>
            </a:extLst>
          </p:cNvPr>
          <p:cNvSpPr txBox="1"/>
          <p:nvPr/>
        </p:nvSpPr>
        <p:spPr>
          <a:xfrm>
            <a:off x="215153" y="367553"/>
            <a:ext cx="8785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highlight>
                  <a:srgbClr val="00FF00"/>
                </a:highlight>
              </a:rPr>
              <a:t>PAGES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63E5E14-9481-6CE3-FDED-81B4189E908C}"/>
              </a:ext>
            </a:extLst>
          </p:cNvPr>
          <p:cNvGrpSpPr/>
          <p:nvPr/>
        </p:nvGrpSpPr>
        <p:grpSpPr>
          <a:xfrm>
            <a:off x="385483" y="1372419"/>
            <a:ext cx="10865223" cy="1317811"/>
            <a:chOff x="591671" y="842683"/>
            <a:chExt cx="10865223" cy="1317811"/>
          </a:xfrm>
          <a:solidFill>
            <a:schemeClr val="tx1">
              <a:lumMod val="50000"/>
              <a:lumOff val="50000"/>
            </a:schemeClr>
          </a:solidFill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66FDB5BF-DA1E-BF1C-D7A7-1DF74B9FF008}"/>
                </a:ext>
              </a:extLst>
            </p:cNvPr>
            <p:cNvSpPr/>
            <p:nvPr/>
          </p:nvSpPr>
          <p:spPr>
            <a:xfrm>
              <a:off x="591671" y="842683"/>
              <a:ext cx="2008094" cy="1317811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rgbClr val="FFC000"/>
                  </a:solidFill>
                </a:rPr>
                <a:t>PAGE 1</a:t>
              </a:r>
            </a:p>
            <a:p>
              <a:pPr algn="ctr"/>
              <a:r>
                <a:rPr lang="en-US" sz="1400" dirty="0"/>
                <a:t>High Level KPIs View</a:t>
              </a:r>
            </a:p>
            <a:p>
              <a:pPr algn="ctr"/>
              <a:endParaRPr lang="en-US" sz="1400" dirty="0"/>
            </a:p>
          </p:txBody>
        </p:sp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7CD968EE-3789-6CB2-F08B-FC17B2750F77}"/>
                </a:ext>
              </a:extLst>
            </p:cNvPr>
            <p:cNvSpPr/>
            <p:nvPr/>
          </p:nvSpPr>
          <p:spPr>
            <a:xfrm>
              <a:off x="9448800" y="842683"/>
              <a:ext cx="2008094" cy="1317811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rgbClr val="FFC000"/>
                  </a:solidFill>
                </a:rPr>
                <a:t>PAGE 4</a:t>
              </a:r>
            </a:p>
            <a:p>
              <a:pPr algn="ctr"/>
              <a:r>
                <a:rPr lang="en-US" sz="1400" dirty="0"/>
                <a:t>Regional Performance View</a:t>
              </a:r>
            </a:p>
          </p:txBody>
        </p: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1597D415-0B1C-3DB8-902C-F90239157EF9}"/>
                </a:ext>
              </a:extLst>
            </p:cNvPr>
            <p:cNvSpPr/>
            <p:nvPr/>
          </p:nvSpPr>
          <p:spPr>
            <a:xfrm>
              <a:off x="3544047" y="842683"/>
              <a:ext cx="2008094" cy="1317811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rgbClr val="FFC000"/>
                  </a:solidFill>
                </a:rPr>
                <a:t>PAGE 2</a:t>
              </a:r>
            </a:p>
            <a:p>
              <a:pPr algn="ctr"/>
              <a:r>
                <a:rPr lang="en-US" sz="1400" dirty="0"/>
                <a:t>High-Value Customer View</a:t>
              </a:r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132BE626-962A-1364-80D0-C957D4D6A64D}"/>
                </a:ext>
              </a:extLst>
            </p:cNvPr>
            <p:cNvSpPr/>
            <p:nvPr/>
          </p:nvSpPr>
          <p:spPr>
            <a:xfrm>
              <a:off x="6496423" y="842683"/>
              <a:ext cx="2008094" cy="1317811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rgbClr val="FFC000"/>
                  </a:solidFill>
                </a:rPr>
                <a:t>PAGE 3</a:t>
              </a:r>
            </a:p>
            <a:p>
              <a:pPr algn="ctr"/>
              <a:r>
                <a:rPr lang="en-US" sz="1400" dirty="0"/>
                <a:t>Product-Level View</a:t>
              </a:r>
            </a:p>
            <a:p>
              <a:pPr algn="ctr"/>
              <a:endParaRPr lang="en-US" sz="1400" dirty="0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B51C314C-2374-A93D-0A3A-0300087268AC}"/>
              </a:ext>
            </a:extLst>
          </p:cNvPr>
          <p:cNvSpPr txBox="1"/>
          <p:nvPr/>
        </p:nvSpPr>
        <p:spPr>
          <a:xfrm>
            <a:off x="389965" y="3618273"/>
            <a:ext cx="1141207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Bulk Orders = </a:t>
            </a:r>
            <a:r>
              <a:rPr lang="en-US" sz="1400" b="0" dirty="0">
                <a:solidFill>
                  <a:srgbClr val="3165BB"/>
                </a:solidFill>
                <a:effectLst/>
                <a:latin typeface="Consolas" panose="020B0609020204030204" pitchFamily="49" charset="0"/>
              </a:rPr>
              <a:t>CALCULATE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68349C"/>
                </a:solidFill>
                <a:effectLst/>
                <a:latin typeface="Consolas" panose="020B0609020204030204" pitchFamily="49" charset="0"/>
              </a:rPr>
              <a:t>[Total Orders]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'Sales Data'[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OrderQuantity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&gt;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High Ticket Orders = </a:t>
            </a:r>
            <a:r>
              <a:rPr lang="en-US" sz="1400" b="0" dirty="0">
                <a:solidFill>
                  <a:srgbClr val="3165BB"/>
                </a:solidFill>
                <a:effectLst/>
                <a:latin typeface="Consolas" panose="020B0609020204030204" pitchFamily="49" charset="0"/>
              </a:rPr>
              <a:t>CALCULATE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68349C"/>
                </a:solidFill>
                <a:effectLst/>
                <a:latin typeface="Consolas" panose="020B0609020204030204" pitchFamily="49" charset="0"/>
              </a:rPr>
              <a:t>[Total Orders]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3165BB"/>
                </a:solidFill>
                <a:effectLst/>
                <a:latin typeface="Consolas" panose="020B0609020204030204" pitchFamily="49" charset="0"/>
              </a:rPr>
              <a:t>FILTER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'Product Lookup'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'Product Lookup'[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ProductPrice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&gt; </a:t>
            </a:r>
            <a:r>
              <a:rPr lang="en-US" sz="1400" b="0" dirty="0">
                <a:solidFill>
                  <a:srgbClr val="68349C"/>
                </a:solidFill>
                <a:effectLst/>
                <a:latin typeface="Consolas" panose="020B0609020204030204" pitchFamily="49" charset="0"/>
              </a:rPr>
              <a:t>[Overall Average Price]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Order Target Gap = </a:t>
            </a:r>
            <a:r>
              <a:rPr lang="en-US" sz="1400" b="0" dirty="0">
                <a:solidFill>
                  <a:srgbClr val="68349C"/>
                </a:solidFill>
                <a:effectLst/>
                <a:latin typeface="Consolas" panose="020B0609020204030204" pitchFamily="49" charset="0"/>
              </a:rPr>
              <a:t>[Total Orders]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- </a:t>
            </a:r>
            <a:r>
              <a:rPr lang="en-US" sz="1400" b="0" dirty="0">
                <a:solidFill>
                  <a:srgbClr val="68349C"/>
                </a:solidFill>
                <a:effectLst/>
                <a:latin typeface="Consolas" panose="020B0609020204030204" pitchFamily="49" charset="0"/>
              </a:rPr>
              <a:t>[Target Orders]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Overall Average Price = </a:t>
            </a:r>
            <a:r>
              <a:rPr lang="en-US" sz="1400" b="0" dirty="0">
                <a:solidFill>
                  <a:srgbClr val="3165BB"/>
                </a:solidFill>
                <a:effectLst/>
                <a:latin typeface="Consolas" panose="020B0609020204030204" pitchFamily="49" charset="0"/>
              </a:rPr>
              <a:t>CALCULATE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68349C"/>
                </a:solidFill>
                <a:effectLst/>
                <a:latin typeface="Consolas" panose="020B0609020204030204" pitchFamily="49" charset="0"/>
              </a:rPr>
              <a:t>[Average Retail Price]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3165BB"/>
                </a:solidFill>
                <a:effectLst/>
                <a:latin typeface="Consolas" panose="020B0609020204030204" pitchFamily="49" charset="0"/>
              </a:rPr>
              <a:t>ALL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'Product Lookup'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Profit Target Gap = </a:t>
            </a:r>
            <a:r>
              <a:rPr lang="en-US" sz="1400" b="0" dirty="0">
                <a:solidFill>
                  <a:srgbClr val="68349C"/>
                </a:solidFill>
                <a:effectLst/>
                <a:latin typeface="Consolas" panose="020B0609020204030204" pitchFamily="49" charset="0"/>
              </a:rPr>
              <a:t>[Total Profit]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- </a:t>
            </a:r>
            <a:r>
              <a:rPr lang="en-US" sz="1400" b="0" dirty="0">
                <a:solidFill>
                  <a:srgbClr val="68349C"/>
                </a:solidFill>
                <a:effectLst/>
                <a:latin typeface="Consolas" panose="020B0609020204030204" pitchFamily="49" charset="0"/>
              </a:rPr>
              <a:t>[Target Profit]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Revenue Target Gap = </a:t>
            </a:r>
            <a:r>
              <a:rPr lang="en-US" sz="1400" b="0" dirty="0">
                <a:solidFill>
                  <a:srgbClr val="68349C"/>
                </a:solidFill>
                <a:effectLst/>
                <a:latin typeface="Consolas" panose="020B0609020204030204" pitchFamily="49" charset="0"/>
              </a:rPr>
              <a:t>[Total Revenue]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- </a:t>
            </a:r>
            <a:r>
              <a:rPr lang="en-US" sz="1400" b="0" dirty="0">
                <a:solidFill>
                  <a:srgbClr val="68349C"/>
                </a:solidFill>
                <a:effectLst/>
                <a:latin typeface="Consolas" panose="020B0609020204030204" pitchFamily="49" charset="0"/>
              </a:rPr>
              <a:t>[Target Revenue]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Total Returns = </a:t>
            </a:r>
            <a:r>
              <a:rPr lang="en-US" sz="1400" b="0" dirty="0">
                <a:solidFill>
                  <a:srgbClr val="3165BB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'Returns Data'[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ReturnDate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Weekend Orders = </a:t>
            </a:r>
            <a:r>
              <a:rPr lang="en-US" sz="1400" b="0" dirty="0">
                <a:solidFill>
                  <a:srgbClr val="3165BB"/>
                </a:solidFill>
                <a:effectLst/>
                <a:latin typeface="Consolas" panose="020B0609020204030204" pitchFamily="49" charset="0"/>
              </a:rPr>
              <a:t>CALCULATE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68349C"/>
                </a:solidFill>
                <a:effectLst/>
                <a:latin typeface="Consolas" panose="020B0609020204030204" pitchFamily="49" charset="0"/>
              </a:rPr>
              <a:t>[Total Orders]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'Calendar Lookup'[Weekend]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"Weekend"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65FE900-D4AC-E16D-EF3C-C46E93B9F1A2}"/>
              </a:ext>
            </a:extLst>
          </p:cNvPr>
          <p:cNvSpPr txBox="1"/>
          <p:nvPr/>
        </p:nvSpPr>
        <p:spPr>
          <a:xfrm>
            <a:off x="385483" y="3248941"/>
            <a:ext cx="1721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/>
              <a:t>Extra Measures</a:t>
            </a:r>
          </a:p>
        </p:txBody>
      </p:sp>
    </p:spTree>
    <p:extLst>
      <p:ext uri="{BB962C8B-B14F-4D97-AF65-F5344CB8AC3E}">
        <p14:creationId xmlns:p14="http://schemas.microsoft.com/office/powerpoint/2010/main" val="41845800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2A6AFD0-B437-D9B8-4DC7-B3C8923B4FD8}"/>
              </a:ext>
            </a:extLst>
          </p:cNvPr>
          <p:cNvSpPr txBox="1"/>
          <p:nvPr/>
        </p:nvSpPr>
        <p:spPr>
          <a:xfrm>
            <a:off x="0" y="708211"/>
            <a:ext cx="9193306" cy="2123658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Total Revenue = </a:t>
            </a:r>
            <a:r>
              <a:rPr lang="en-US" sz="1200" b="0" dirty="0">
                <a:solidFill>
                  <a:srgbClr val="3165BB"/>
                </a:solidFill>
                <a:effectLst/>
                <a:latin typeface="Consolas" panose="020B0609020204030204" pitchFamily="49" charset="0"/>
              </a:rPr>
              <a:t>SUMX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'Sales Data'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3165BB"/>
                </a:solidFill>
                <a:effectLst/>
                <a:latin typeface="Consolas" panose="020B0609020204030204" pitchFamily="49" charset="0"/>
              </a:rPr>
              <a:t>RELATED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'Product Lookup'[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ProductPrice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*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'Sales Data'[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OrderQuantity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Total Profit = </a:t>
            </a:r>
            <a:r>
              <a:rPr lang="en-US" sz="1200" b="0" dirty="0">
                <a:solidFill>
                  <a:srgbClr val="3165BB"/>
                </a:solidFill>
                <a:effectLst/>
                <a:latin typeface="Consolas" panose="020B0609020204030204" pitchFamily="49" charset="0"/>
              </a:rPr>
              <a:t>SUMX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'Sales Data'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68349C"/>
                </a:solidFill>
                <a:effectLst/>
                <a:latin typeface="Consolas" panose="020B0609020204030204" pitchFamily="49" charset="0"/>
              </a:rPr>
              <a:t>[Total Revenue]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- </a:t>
            </a:r>
            <a:r>
              <a:rPr lang="en-US" sz="1200" b="0" dirty="0">
                <a:solidFill>
                  <a:srgbClr val="68349C"/>
                </a:solidFill>
                <a:effectLst/>
                <a:latin typeface="Consolas" panose="020B0609020204030204" pitchFamily="49" charset="0"/>
              </a:rPr>
              <a:t>[Total Cost]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)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Total Orders = </a:t>
            </a:r>
            <a:r>
              <a:rPr lang="en-US" sz="1200" b="0" dirty="0">
                <a:solidFill>
                  <a:srgbClr val="3165BB"/>
                </a:solidFill>
                <a:effectLst/>
                <a:latin typeface="Consolas" panose="020B0609020204030204" pitchFamily="49" charset="0"/>
              </a:rPr>
              <a:t>DISTINCTCOUNT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'Sales Data'[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OrderNumber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Return Rate = </a:t>
            </a:r>
            <a:r>
              <a:rPr lang="en-US" sz="1200" b="0" dirty="0">
                <a:solidFill>
                  <a:srgbClr val="3165BB"/>
                </a:solidFill>
                <a:effectLst/>
                <a:latin typeface="Consolas" panose="020B0609020204030204" pitchFamily="49" charset="0"/>
              </a:rPr>
              <a:t>DIVIDE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68349C"/>
                </a:solidFill>
                <a:effectLst/>
                <a:latin typeface="Consolas" panose="020B0609020204030204" pitchFamily="49" charset="0"/>
              </a:rPr>
              <a:t>[Quantity Returned]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68349C"/>
                </a:solidFill>
                <a:effectLst/>
                <a:latin typeface="Consolas" panose="020B0609020204030204" pitchFamily="49" charset="0"/>
              </a:rPr>
              <a:t>[Quantity Sold]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------------------------------------------------------------------------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Total Cost = </a:t>
            </a:r>
            <a:r>
              <a:rPr lang="en-US" sz="1200" b="0" dirty="0">
                <a:solidFill>
                  <a:srgbClr val="3165BB"/>
                </a:solidFill>
                <a:effectLst/>
                <a:latin typeface="Consolas" panose="020B0609020204030204" pitchFamily="49" charset="0"/>
              </a:rPr>
              <a:t>SUMX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'Sales Data'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'Sales Data'[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OrderQuantity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sz="1200" b="0" dirty="0">
                <a:solidFill>
                  <a:srgbClr val="3165BB"/>
                </a:solidFill>
                <a:effectLst/>
                <a:latin typeface="Consolas" panose="020B0609020204030204" pitchFamily="49" charset="0"/>
              </a:rPr>
              <a:t>RELATED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'Product Lookup'[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ProductCost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)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Quantity Returned = </a:t>
            </a:r>
          </a:p>
          <a:p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	var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returned_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200" b="0" dirty="0">
                <a:solidFill>
                  <a:srgbClr val="3165BB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'Returns Data'[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ReturnQuantity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lvl="2"/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lvl="2"/>
            <a:r>
              <a:rPr lang="en-US" sz="1200" b="0" dirty="0">
                <a:solidFill>
                  <a:srgbClr val="3165B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3165BB"/>
                </a:solidFill>
                <a:effectLst/>
                <a:latin typeface="Consolas" panose="020B0609020204030204" pitchFamily="49" charset="0"/>
              </a:rPr>
              <a:t>ISBLANK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returned_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),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returned_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Quantity Sold = </a:t>
            </a:r>
            <a:r>
              <a:rPr lang="en-US" sz="1200" b="0" dirty="0">
                <a:solidFill>
                  <a:srgbClr val="3165BB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'Sales Data'[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OrderQuantity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EDD114-13ED-8078-556D-710A789C61F5}"/>
              </a:ext>
            </a:extLst>
          </p:cNvPr>
          <p:cNvSpPr txBox="1"/>
          <p:nvPr/>
        </p:nvSpPr>
        <p:spPr>
          <a:xfrm>
            <a:off x="0" y="3004155"/>
            <a:ext cx="5526741" cy="1200329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u="sng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Field Parameter 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Date Selector = {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(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"Yearly"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3165BB"/>
                </a:solidFill>
                <a:effectLst/>
                <a:latin typeface="Consolas" panose="020B0609020204030204" pitchFamily="49" charset="0"/>
              </a:rPr>
              <a:t>NAMEOF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'Calendar Lookup'[Year]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),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(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"Monthly"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3165BB"/>
                </a:solidFill>
                <a:effectLst/>
                <a:latin typeface="Consolas" panose="020B0609020204030204" pitchFamily="49" charset="0"/>
              </a:rPr>
              <a:t>NAMEOF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'Calendar Lookup'[Start of Month]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),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(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"Weekly"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3165BB"/>
                </a:solidFill>
                <a:effectLst/>
                <a:latin typeface="Consolas" panose="020B0609020204030204" pitchFamily="49" charset="0"/>
              </a:rPr>
              <a:t>NAMEOF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'Calendar Lookup'[Start of Week]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),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807AAE1-572D-CD6C-C88D-C1B69A49169B}"/>
              </a:ext>
            </a:extLst>
          </p:cNvPr>
          <p:cNvSpPr txBox="1"/>
          <p:nvPr/>
        </p:nvSpPr>
        <p:spPr>
          <a:xfrm>
            <a:off x="0" y="4376770"/>
            <a:ext cx="9722224" cy="116955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Previous Month Revenue = </a:t>
            </a:r>
            <a:r>
              <a:rPr lang="en-US" sz="1400" b="0" dirty="0">
                <a:solidFill>
                  <a:srgbClr val="3165BB"/>
                </a:solidFill>
                <a:effectLst/>
                <a:latin typeface="Consolas" panose="020B0609020204030204" pitchFamily="49" charset="0"/>
              </a:rPr>
              <a:t>CALCULATE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68349C"/>
                </a:solidFill>
                <a:effectLst/>
                <a:latin typeface="Consolas" panose="020B0609020204030204" pitchFamily="49" charset="0"/>
              </a:rPr>
              <a:t>[Total Revenue]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3165BB"/>
                </a:solidFill>
                <a:effectLst/>
                <a:latin typeface="Consolas" panose="020B0609020204030204" pitchFamily="49" charset="0"/>
              </a:rPr>
              <a:t>DATEADD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'Calendar Lookup'[Date]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-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3165BB"/>
                </a:solidFill>
                <a:effectLst/>
                <a:latin typeface="Consolas" panose="020B0609020204030204" pitchFamily="49" charset="0"/>
              </a:rPr>
              <a:t>MONTH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Previous Month Orders = </a:t>
            </a:r>
            <a:r>
              <a:rPr lang="en-US" sz="1400" b="0" dirty="0">
                <a:solidFill>
                  <a:srgbClr val="3165BB"/>
                </a:solidFill>
                <a:effectLst/>
                <a:latin typeface="Consolas" panose="020B0609020204030204" pitchFamily="49" charset="0"/>
              </a:rPr>
              <a:t>CALCULATE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68349C"/>
                </a:solidFill>
                <a:effectLst/>
                <a:latin typeface="Consolas" panose="020B0609020204030204" pitchFamily="49" charset="0"/>
              </a:rPr>
              <a:t>[Total Orders]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3165BB"/>
                </a:solidFill>
                <a:effectLst/>
                <a:latin typeface="Consolas" panose="020B0609020204030204" pitchFamily="49" charset="0"/>
              </a:rPr>
              <a:t>DATEADD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'Calendar Lookup'[Date]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-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3165BB"/>
                </a:solidFill>
                <a:effectLst/>
                <a:latin typeface="Consolas" panose="020B0609020204030204" pitchFamily="49" charset="0"/>
              </a:rPr>
              <a:t>MONTH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Previous Month Returns = </a:t>
            </a:r>
            <a:r>
              <a:rPr lang="en-US" sz="1400" b="0" dirty="0">
                <a:solidFill>
                  <a:srgbClr val="3165BB"/>
                </a:solidFill>
                <a:effectLst/>
                <a:latin typeface="Consolas" panose="020B0609020204030204" pitchFamily="49" charset="0"/>
              </a:rPr>
              <a:t>CALCULATE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68349C"/>
                </a:solidFill>
                <a:effectLst/>
                <a:latin typeface="Consolas" panose="020B0609020204030204" pitchFamily="49" charset="0"/>
              </a:rPr>
              <a:t>[Total Returns]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3165BB"/>
                </a:solidFill>
                <a:effectLst/>
                <a:latin typeface="Consolas" panose="020B0609020204030204" pitchFamily="49" charset="0"/>
              </a:rPr>
              <a:t>DATEADD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'Calendar Lookup'[Date]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-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3165BB"/>
                </a:solidFill>
                <a:effectLst/>
                <a:latin typeface="Consolas" panose="020B0609020204030204" pitchFamily="49" charset="0"/>
              </a:rPr>
              <a:t>MONTH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-----------------------------------------------------------------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Previous Month Profit = </a:t>
            </a:r>
            <a:r>
              <a:rPr lang="en-US" sz="1400" b="0" dirty="0">
                <a:solidFill>
                  <a:srgbClr val="3165BB"/>
                </a:solidFill>
                <a:effectLst/>
                <a:latin typeface="Consolas" panose="020B0609020204030204" pitchFamily="49" charset="0"/>
              </a:rPr>
              <a:t>CALCULATE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68349C"/>
                </a:solidFill>
                <a:effectLst/>
                <a:latin typeface="Consolas" panose="020B0609020204030204" pitchFamily="49" charset="0"/>
              </a:rPr>
              <a:t>[Total Profit]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3165BB"/>
                </a:solidFill>
                <a:effectLst/>
                <a:latin typeface="Consolas" panose="020B0609020204030204" pitchFamily="49" charset="0"/>
              </a:rPr>
              <a:t>DATEADD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'Calendar Lookup'[Date]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-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3165BB"/>
                </a:solidFill>
                <a:effectLst/>
                <a:latin typeface="Consolas" panose="020B0609020204030204" pitchFamily="49" charset="0"/>
              </a:rPr>
              <a:t>MONTH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14EB679-0746-5728-93DD-70FC340C4837}"/>
              </a:ext>
            </a:extLst>
          </p:cNvPr>
          <p:cNvSpPr/>
          <p:nvPr/>
        </p:nvSpPr>
        <p:spPr>
          <a:xfrm>
            <a:off x="0" y="0"/>
            <a:ext cx="2407023" cy="7082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C000"/>
                </a:solidFill>
              </a:rPr>
              <a:t>PAGE 1</a:t>
            </a:r>
          </a:p>
          <a:p>
            <a:pPr algn="ctr"/>
            <a:r>
              <a:rPr lang="en-US" sz="1400" dirty="0"/>
              <a:t>High Level KPIs View</a:t>
            </a:r>
          </a:p>
        </p:txBody>
      </p:sp>
    </p:spTree>
    <p:extLst>
      <p:ext uri="{BB962C8B-B14F-4D97-AF65-F5344CB8AC3E}">
        <p14:creationId xmlns:p14="http://schemas.microsoft.com/office/powerpoint/2010/main" val="35549239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CB03D4F-D23A-3060-B2E1-CC9A1382B26E}"/>
              </a:ext>
            </a:extLst>
          </p:cNvPr>
          <p:cNvSpPr txBox="1"/>
          <p:nvPr/>
        </p:nvSpPr>
        <p:spPr>
          <a:xfrm>
            <a:off x="0" y="2672239"/>
            <a:ext cx="10614212" cy="418576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Target Orders = </a:t>
            </a:r>
            <a:r>
              <a:rPr lang="en-US" sz="1400" b="0" dirty="0">
                <a:solidFill>
                  <a:srgbClr val="68349C"/>
                </a:solidFill>
                <a:effectLst/>
                <a:latin typeface="Consolas" panose="020B0609020204030204" pitchFamily="49" charset="0"/>
              </a:rPr>
              <a:t>[Previous Month Orders]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1.1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Target Revenue = </a:t>
            </a:r>
            <a:r>
              <a:rPr lang="en-US" sz="1400" b="0" dirty="0">
                <a:solidFill>
                  <a:srgbClr val="68349C"/>
                </a:solidFill>
                <a:effectLst/>
                <a:latin typeface="Consolas" panose="020B0609020204030204" pitchFamily="49" charset="0"/>
              </a:rPr>
              <a:t>[Previous Month Revenue]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1.1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Target Profit = </a:t>
            </a:r>
            <a:r>
              <a:rPr lang="en-US" sz="1400" b="0" dirty="0">
                <a:solidFill>
                  <a:srgbClr val="68349C"/>
                </a:solidFill>
                <a:effectLst/>
                <a:latin typeface="Consolas" panose="020B0609020204030204" pitchFamily="49" charset="0"/>
              </a:rPr>
              <a:t>[Previous Month Profit]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1.1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endParaRPr lang="en-US" sz="1400" dirty="0"/>
          </a:p>
          <a:p>
            <a:r>
              <a:rPr lang="en-US" sz="1400" dirty="0">
                <a:highlight>
                  <a:srgbClr val="00FF00"/>
                </a:highlight>
              </a:rPr>
              <a:t>NUMERIC RANGE FIELD PARAMETER </a:t>
            </a:r>
            <a:r>
              <a:rPr lang="en-US" sz="1400" dirty="0">
                <a:highlight>
                  <a:srgbClr val="00FF00"/>
                </a:highlight>
                <a:sym typeface="Wingdings" panose="05000000000000000000" pitchFamily="2" charset="2"/>
              </a:rPr>
              <a:t> </a:t>
            </a:r>
            <a:r>
              <a:rPr lang="en-US" sz="1400" b="0" dirty="0">
                <a:solidFill>
                  <a:srgbClr val="001080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</a:rPr>
              <a:t>'Price Adjusted %'[Price Adjusted %]</a:t>
            </a:r>
            <a:r>
              <a:rPr lang="en-US" sz="1400" b="0" dirty="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</a:rPr>
              <a:t>, </a:t>
            </a:r>
            <a:endParaRPr lang="en-US" sz="1400" dirty="0">
              <a:highlight>
                <a:srgbClr val="00FF00"/>
              </a:highlight>
            </a:endParaRP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Average Retail Price = </a:t>
            </a:r>
            <a:r>
              <a:rPr lang="en-US" sz="1400" b="0" dirty="0">
                <a:solidFill>
                  <a:srgbClr val="3165BB"/>
                </a:solidFill>
                <a:effectLst/>
                <a:latin typeface="Consolas" panose="020B0609020204030204" pitchFamily="49" charset="0"/>
              </a:rPr>
              <a:t>AVERAGE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'Product Lookup'[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ProductPrice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Price Adjusted % Value = </a:t>
            </a:r>
            <a:r>
              <a:rPr lang="en-US" sz="1400" b="0" dirty="0">
                <a:solidFill>
                  <a:srgbClr val="3165BB"/>
                </a:solidFill>
                <a:effectLst/>
                <a:latin typeface="Consolas" panose="020B0609020204030204" pitchFamily="49" charset="0"/>
              </a:rPr>
              <a:t>SELECTEDVALUE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'Price Adjusted %'[Price Adjusted %]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sz="1400" dirty="0"/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Adjusted Price = </a:t>
            </a:r>
            <a:r>
              <a:rPr lang="en-US" sz="1400" b="0" dirty="0">
                <a:solidFill>
                  <a:srgbClr val="68349C"/>
                </a:solidFill>
                <a:effectLst/>
                <a:latin typeface="Consolas" panose="020B0609020204030204" pitchFamily="49" charset="0"/>
              </a:rPr>
              <a:t>[Average Retail Price]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 (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'Price Adjusted %'</a:t>
            </a:r>
            <a:r>
              <a:rPr lang="en-US" sz="1400" b="0" dirty="0">
                <a:solidFill>
                  <a:srgbClr val="68349C"/>
                </a:solidFill>
                <a:effectLst/>
                <a:latin typeface="Consolas" panose="020B0609020204030204" pitchFamily="49" charset="0"/>
              </a:rPr>
              <a:t>[Price Adjusted % Value]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Adjusted Revenue = </a:t>
            </a:r>
            <a:r>
              <a:rPr lang="en-US" sz="1400" b="0" dirty="0">
                <a:solidFill>
                  <a:srgbClr val="3165BB"/>
                </a:solidFill>
                <a:effectLst/>
                <a:latin typeface="Consolas" panose="020B0609020204030204" pitchFamily="49" charset="0"/>
              </a:rPr>
              <a:t>SUMX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'Sales Data'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'Sales Data'[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OrderQuantity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sz="1400" b="0" dirty="0">
                <a:solidFill>
                  <a:srgbClr val="68349C"/>
                </a:solidFill>
                <a:effectLst/>
                <a:latin typeface="Consolas" panose="020B0609020204030204" pitchFamily="49" charset="0"/>
              </a:rPr>
              <a:t>[Adjusted Price]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) 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Adjusted Profit = </a:t>
            </a:r>
            <a:r>
              <a:rPr lang="en-US" sz="1400" b="0" dirty="0">
                <a:solidFill>
                  <a:srgbClr val="68349C"/>
                </a:solidFill>
                <a:effectLst/>
                <a:latin typeface="Consolas" panose="020B0609020204030204" pitchFamily="49" charset="0"/>
              </a:rPr>
              <a:t>[Adjusted Revenue]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- </a:t>
            </a:r>
            <a:r>
              <a:rPr lang="en-US" sz="1400" b="0" dirty="0">
                <a:solidFill>
                  <a:srgbClr val="68349C"/>
                </a:solidFill>
                <a:effectLst/>
                <a:latin typeface="Consolas" panose="020B0609020204030204" pitchFamily="49" charset="0"/>
              </a:rPr>
              <a:t>[Total Cost]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endParaRPr lang="en-US" sz="1400" dirty="0"/>
          </a:p>
          <a:p>
            <a:r>
              <a:rPr lang="en-US" sz="1400" dirty="0">
                <a:highlight>
                  <a:srgbClr val="00FF00"/>
                </a:highlight>
              </a:rPr>
              <a:t>FIELDS PARMETER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Product Metric Selection = {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(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"Total Orders"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3165BB"/>
                </a:solidFill>
                <a:effectLst/>
                <a:latin typeface="Consolas" panose="020B0609020204030204" pitchFamily="49" charset="0"/>
              </a:rPr>
              <a:t>NAMEOF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'Measures Table'</a:t>
            </a:r>
            <a:r>
              <a:rPr lang="en-US" sz="1400" b="0" dirty="0">
                <a:solidFill>
                  <a:srgbClr val="68349C"/>
                </a:solidFill>
                <a:effectLst/>
                <a:latin typeface="Consolas" panose="020B0609020204030204" pitchFamily="49" charset="0"/>
              </a:rPr>
              <a:t>[Total Orders]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),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(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"Total Revenue"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3165BB"/>
                </a:solidFill>
                <a:effectLst/>
                <a:latin typeface="Consolas" panose="020B0609020204030204" pitchFamily="49" charset="0"/>
              </a:rPr>
              <a:t>NAMEOF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'Measures Table'</a:t>
            </a:r>
            <a:r>
              <a:rPr lang="en-US" sz="1400" b="0" dirty="0">
                <a:solidFill>
                  <a:srgbClr val="68349C"/>
                </a:solidFill>
                <a:effectLst/>
                <a:latin typeface="Consolas" panose="020B0609020204030204" pitchFamily="49" charset="0"/>
              </a:rPr>
              <a:t>[Total Revenue]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),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(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"Total Profit"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3165BB"/>
                </a:solidFill>
                <a:effectLst/>
                <a:latin typeface="Consolas" panose="020B0609020204030204" pitchFamily="49" charset="0"/>
              </a:rPr>
              <a:t>NAMEOF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'Measures Table'</a:t>
            </a:r>
            <a:r>
              <a:rPr lang="en-US" sz="1400" b="0" dirty="0">
                <a:solidFill>
                  <a:srgbClr val="68349C"/>
                </a:solidFill>
                <a:effectLst/>
                <a:latin typeface="Consolas" panose="020B0609020204030204" pitchFamily="49" charset="0"/>
              </a:rPr>
              <a:t>[Total Profit]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),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(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"Total Returns"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3165BB"/>
                </a:solidFill>
                <a:effectLst/>
                <a:latin typeface="Consolas" panose="020B0609020204030204" pitchFamily="49" charset="0"/>
              </a:rPr>
              <a:t>NAMEOF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'Measures Table'</a:t>
            </a:r>
            <a:r>
              <a:rPr lang="en-US" sz="1400" b="0" dirty="0">
                <a:solidFill>
                  <a:srgbClr val="68349C"/>
                </a:solidFill>
                <a:effectLst/>
                <a:latin typeface="Consolas" panose="020B0609020204030204" pitchFamily="49" charset="0"/>
              </a:rPr>
              <a:t>[Total Returns]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),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(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"Return Rate"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3165BB"/>
                </a:solidFill>
                <a:effectLst/>
                <a:latin typeface="Consolas" panose="020B0609020204030204" pitchFamily="49" charset="0"/>
              </a:rPr>
              <a:t>NAMEOF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'Measures Table'</a:t>
            </a:r>
            <a:r>
              <a:rPr lang="en-US" sz="1400" b="0" dirty="0">
                <a:solidFill>
                  <a:srgbClr val="68349C"/>
                </a:solidFill>
                <a:effectLst/>
                <a:latin typeface="Consolas" panose="020B0609020204030204" pitchFamily="49" charset="0"/>
              </a:rPr>
              <a:t>[Return Rate]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),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E1357403-161C-9C00-4588-8D35C29CCCC3}"/>
              </a:ext>
            </a:extLst>
          </p:cNvPr>
          <p:cNvSpPr/>
          <p:nvPr/>
        </p:nvSpPr>
        <p:spPr>
          <a:xfrm>
            <a:off x="0" y="2132837"/>
            <a:ext cx="2590800" cy="539402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C000"/>
                </a:solidFill>
              </a:rPr>
              <a:t>PAGE 4</a:t>
            </a:r>
          </a:p>
          <a:p>
            <a:pPr algn="ctr"/>
            <a:r>
              <a:rPr lang="en-US" sz="1400" dirty="0"/>
              <a:t>Product-Level View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493142-FEC5-89CE-BAF6-1D17987A9AE7}"/>
              </a:ext>
            </a:extLst>
          </p:cNvPr>
          <p:cNvSpPr txBox="1"/>
          <p:nvPr/>
        </p:nvSpPr>
        <p:spPr>
          <a:xfrm>
            <a:off x="0" y="531311"/>
            <a:ext cx="11761693" cy="1600438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Total Customers = </a:t>
            </a:r>
            <a:r>
              <a:rPr lang="en-US" sz="1400" b="0" dirty="0">
                <a:solidFill>
                  <a:srgbClr val="3165BB"/>
                </a:solidFill>
                <a:effectLst/>
                <a:latin typeface="Consolas" panose="020B0609020204030204" pitchFamily="49" charset="0"/>
              </a:rPr>
              <a:t>DISTINCTCOUNT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'Sales Data'[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CustomerKey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Total Orders (Customer Details) = </a:t>
            </a:r>
            <a:r>
              <a:rPr lang="en-US" sz="1400" b="0" dirty="0">
                <a:solidFill>
                  <a:srgbClr val="3165B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3165BB"/>
                </a:solidFill>
                <a:effectLst/>
                <a:latin typeface="Consolas" panose="020B0609020204030204" pitchFamily="49" charset="0"/>
              </a:rPr>
              <a:t>HASONEVALUE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'Customer Lookup'[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CustomerKey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), </a:t>
            </a:r>
            <a:r>
              <a:rPr lang="en-US" sz="1400" b="0" dirty="0">
                <a:solidFill>
                  <a:srgbClr val="68349C"/>
                </a:solidFill>
                <a:effectLst/>
                <a:latin typeface="Consolas" panose="020B0609020204030204" pitchFamily="49" charset="0"/>
              </a:rPr>
              <a:t>[Total Orders]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"-"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Total Revenue (Customer Details) = </a:t>
            </a:r>
            <a:r>
              <a:rPr lang="en-US" sz="1400" b="0" dirty="0">
                <a:solidFill>
                  <a:srgbClr val="3165B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3165BB"/>
                </a:solidFill>
                <a:effectLst/>
                <a:latin typeface="Consolas" panose="020B0609020204030204" pitchFamily="49" charset="0"/>
              </a:rPr>
              <a:t>HASONEVALUE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'Customer Lookup'[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CustomerKey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), </a:t>
            </a:r>
            <a:r>
              <a:rPr lang="en-US" sz="1400" b="0" dirty="0">
                <a:solidFill>
                  <a:srgbClr val="68349C"/>
                </a:solidFill>
                <a:effectLst/>
                <a:latin typeface="Consolas" panose="020B0609020204030204" pitchFamily="49" charset="0"/>
              </a:rPr>
              <a:t>[Total Revenue]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"-"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Average Revenue per Customer = </a:t>
            </a:r>
            <a:r>
              <a:rPr lang="en-US" sz="1400" b="0" dirty="0">
                <a:solidFill>
                  <a:srgbClr val="3165BB"/>
                </a:solidFill>
                <a:effectLst/>
                <a:latin typeface="Consolas" panose="020B0609020204030204" pitchFamily="49" charset="0"/>
              </a:rPr>
              <a:t>DIVIDE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68349C"/>
                </a:solidFill>
                <a:effectLst/>
                <a:latin typeface="Consolas" panose="020B0609020204030204" pitchFamily="49" charset="0"/>
              </a:rPr>
              <a:t>[Total Revenue]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68349C"/>
                </a:solidFill>
                <a:effectLst/>
                <a:latin typeface="Consolas" panose="020B0609020204030204" pitchFamily="49" charset="0"/>
              </a:rPr>
              <a:t>[Total Customers]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sz="1400" dirty="0"/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[Customer Metric Selection ] = {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(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"Total Customers"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3165BB"/>
                </a:solidFill>
                <a:effectLst/>
                <a:latin typeface="Consolas" panose="020B0609020204030204" pitchFamily="49" charset="0"/>
              </a:rPr>
              <a:t>NAMEOF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'Measures Table'</a:t>
            </a:r>
            <a:r>
              <a:rPr lang="en-US" sz="1400" b="0" dirty="0">
                <a:solidFill>
                  <a:srgbClr val="68349C"/>
                </a:solidFill>
                <a:effectLst/>
                <a:latin typeface="Consolas" panose="020B0609020204030204" pitchFamily="49" charset="0"/>
              </a:rPr>
              <a:t>[Total Customers]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),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(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"Average Revenue per Customer"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3165BB"/>
                </a:solidFill>
                <a:effectLst/>
                <a:latin typeface="Consolas" panose="020B0609020204030204" pitchFamily="49" charset="0"/>
              </a:rPr>
              <a:t>NAMEOF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'Measures Table'</a:t>
            </a:r>
            <a:r>
              <a:rPr lang="en-US" sz="1400" b="0" dirty="0">
                <a:solidFill>
                  <a:srgbClr val="68349C"/>
                </a:solidFill>
                <a:effectLst/>
                <a:latin typeface="Consolas" panose="020B0609020204030204" pitchFamily="49" charset="0"/>
              </a:rPr>
              <a:t>[Average Revenue per Customer]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),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)}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728028F-4E7E-E71E-6670-7D6C91183CA1}"/>
              </a:ext>
            </a:extLst>
          </p:cNvPr>
          <p:cNvSpPr/>
          <p:nvPr/>
        </p:nvSpPr>
        <p:spPr>
          <a:xfrm>
            <a:off x="0" y="0"/>
            <a:ext cx="2590800" cy="539402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C000"/>
                </a:solidFill>
              </a:rPr>
              <a:t>PAGE 2</a:t>
            </a:r>
          </a:p>
          <a:p>
            <a:pPr algn="ctr"/>
            <a:r>
              <a:rPr lang="en-US" sz="1400" dirty="0"/>
              <a:t>High-Value Customer View</a:t>
            </a:r>
          </a:p>
        </p:txBody>
      </p:sp>
    </p:spTree>
    <p:extLst>
      <p:ext uri="{BB962C8B-B14F-4D97-AF65-F5344CB8AC3E}">
        <p14:creationId xmlns:p14="http://schemas.microsoft.com/office/powerpoint/2010/main" val="40447100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29BCA23-C3AE-0F3B-CFCF-EBB50C957378}"/>
              </a:ext>
            </a:extLst>
          </p:cNvPr>
          <p:cNvSpPr txBox="1"/>
          <p:nvPr/>
        </p:nvSpPr>
        <p:spPr>
          <a:xfrm>
            <a:off x="331693" y="367553"/>
            <a:ext cx="11421035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Birth Year = </a:t>
            </a:r>
            <a:r>
              <a:rPr lang="en-US" sz="1200" b="0" dirty="0">
                <a:solidFill>
                  <a:srgbClr val="3165BB"/>
                </a:solidFill>
                <a:effectLst/>
                <a:latin typeface="Consolas" panose="020B0609020204030204" pitchFamily="49" charset="0"/>
              </a:rPr>
              <a:t>YEAR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'Customer Lookup'[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BirthDate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Customer Priority = </a:t>
            </a:r>
            <a:r>
              <a:rPr lang="en-US" sz="1200" b="0" dirty="0">
                <a:solidFill>
                  <a:srgbClr val="3165B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3165BB"/>
                </a:solidFill>
                <a:effectLst/>
                <a:latin typeface="Consolas" panose="020B0609020204030204" pitchFamily="49" charset="0"/>
              </a:rPr>
              <a:t>AND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'Customer Lookup'[Parent?]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"Yes"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'Customer Lookup'[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AnnualIncome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&gt;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100000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), 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"Priority"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"Standard"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Education Category = </a:t>
            </a:r>
            <a:r>
              <a:rPr lang="en-US" sz="1200" b="0" dirty="0">
                <a:solidFill>
                  <a:srgbClr val="3165BB"/>
                </a:solidFill>
                <a:effectLst/>
                <a:latin typeface="Consolas" panose="020B0609020204030204" pitchFamily="49" charset="0"/>
              </a:rPr>
              <a:t>SWITCH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3165BB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'Customer Lookup'[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EducationLevel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"High School"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"Partial High School"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}, 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"High School"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'Customer Lookup'[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EducationLevel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"Bachelors"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"Partial College"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}, 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"Undergrad"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'Customer Lookup'[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EducationLevel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"Graduate Degree"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}, 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"Graduate"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"Others"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Full Name =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'Customer Lookup'[Prefix]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&amp; 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 "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&amp;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'Customer Lookup'[FirstName]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&amp; 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 "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&amp;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'Customer Lookup'[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LastName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]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Full Name (Customer Details) = </a:t>
            </a:r>
            <a:r>
              <a:rPr lang="en-US" sz="1200" b="0" dirty="0">
                <a:solidFill>
                  <a:srgbClr val="3165B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3165BB"/>
                </a:solidFill>
                <a:effectLst/>
                <a:latin typeface="Consolas" panose="020B0609020204030204" pitchFamily="49" charset="0"/>
              </a:rPr>
              <a:t>HASONEVALUE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'Customer Lookup'[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CustomerKey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), </a:t>
            </a:r>
            <a:r>
              <a:rPr lang="en-US" sz="1200" b="0" dirty="0">
                <a:solidFill>
                  <a:srgbClr val="3165BB"/>
                </a:solidFill>
                <a:effectLst/>
                <a:latin typeface="Consolas" panose="020B0609020204030204" pitchFamily="49" charset="0"/>
              </a:rPr>
              <a:t>MAX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'Customer Lookup'[Full Name]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), 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"Multiple Customers"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Income Level = </a:t>
            </a:r>
            <a:r>
              <a:rPr lang="en-US" sz="1200" b="0" dirty="0">
                <a:solidFill>
                  <a:srgbClr val="3165BB"/>
                </a:solidFill>
                <a:effectLst/>
                <a:latin typeface="Consolas" panose="020B0609020204030204" pitchFamily="49" charset="0"/>
              </a:rPr>
              <a:t>SWITCH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3165BB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'Customer Lookup'[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AnnualIncome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&gt;=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150000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"Very High"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'Customer Lookup'[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AnnualIncome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&gt;=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100000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"High"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'Customer Lookup'[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AnnualIncome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&gt;=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50000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"Average"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"Low"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Parent? = </a:t>
            </a:r>
            <a:r>
              <a:rPr lang="en-US" sz="1200" b="0" dirty="0">
                <a:solidFill>
                  <a:srgbClr val="3165B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'Customer Lookup'[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TotalChildren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&gt;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"Yes"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"No"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366E2A1-C245-1807-4AD0-C5F516EBE828}"/>
              </a:ext>
            </a:extLst>
          </p:cNvPr>
          <p:cNvSpPr txBox="1"/>
          <p:nvPr/>
        </p:nvSpPr>
        <p:spPr>
          <a:xfrm>
            <a:off x="170329" y="4589929"/>
            <a:ext cx="5719483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Price Point = </a:t>
            </a:r>
          </a:p>
          <a:p>
            <a:r>
              <a:rPr lang="en-US" sz="1200" b="0" dirty="0">
                <a:solidFill>
                  <a:srgbClr val="3165BB"/>
                </a:solidFill>
                <a:effectLst/>
                <a:latin typeface="Consolas" panose="020B0609020204030204" pitchFamily="49" charset="0"/>
              </a:rPr>
              <a:t>SWITCH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3165BB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'Product Lookup'[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ProductPrice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&gt;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500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"High"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'Product Lookup'[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ProductPrice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&gt;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"Mid Range"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"Low"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endParaRPr lang="en-US" sz="1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DA4608-2200-EA08-6CBD-5DD0080ACC05}"/>
              </a:ext>
            </a:extLst>
          </p:cNvPr>
          <p:cNvSpPr txBox="1"/>
          <p:nvPr/>
        </p:nvSpPr>
        <p:spPr>
          <a:xfrm>
            <a:off x="7055224" y="4589929"/>
            <a:ext cx="4966447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Quantity Type = </a:t>
            </a:r>
          </a:p>
          <a:p>
            <a:r>
              <a:rPr lang="en-US" sz="1200" b="0" dirty="0">
                <a:solidFill>
                  <a:srgbClr val="3165B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'Sales Data'[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OrderQuantity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&gt;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"Multiple Items"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"Single Item"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endParaRPr lang="en-US" sz="1400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ADA6E591-942F-BCF5-1C54-612753EF13CA}"/>
              </a:ext>
            </a:extLst>
          </p:cNvPr>
          <p:cNvSpPr/>
          <p:nvPr/>
        </p:nvSpPr>
        <p:spPr>
          <a:xfrm>
            <a:off x="7055224" y="4186518"/>
            <a:ext cx="1075764" cy="40341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Sales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633FE6BD-5118-A61A-0529-077C1D2D033B}"/>
              </a:ext>
            </a:extLst>
          </p:cNvPr>
          <p:cNvSpPr/>
          <p:nvPr/>
        </p:nvSpPr>
        <p:spPr>
          <a:xfrm>
            <a:off x="80683" y="4338918"/>
            <a:ext cx="1685364" cy="25101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Products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D4CFD5F-5DAA-80D3-839B-A0A4AE2CF5A1}"/>
              </a:ext>
            </a:extLst>
          </p:cNvPr>
          <p:cNvSpPr/>
          <p:nvPr/>
        </p:nvSpPr>
        <p:spPr>
          <a:xfrm>
            <a:off x="80683" y="49150"/>
            <a:ext cx="1685364" cy="25101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Customers</a:t>
            </a:r>
          </a:p>
        </p:txBody>
      </p:sp>
    </p:spTree>
    <p:extLst>
      <p:ext uri="{BB962C8B-B14F-4D97-AF65-F5344CB8AC3E}">
        <p14:creationId xmlns:p14="http://schemas.microsoft.com/office/powerpoint/2010/main" val="41604333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1187</Words>
  <Application>Microsoft Office PowerPoint</Application>
  <PresentationFormat>Widescreen</PresentationFormat>
  <Paragraphs>133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Mayar Hassan</dc:creator>
  <cp:lastModifiedBy>Mayar Hassan</cp:lastModifiedBy>
  <cp:revision>1</cp:revision>
  <dcterms:created xsi:type="dcterms:W3CDTF">2026-04-24T15:40:40Z</dcterms:created>
  <dcterms:modified xsi:type="dcterms:W3CDTF">2026-04-24T15:41:03Z</dcterms:modified>
</cp:coreProperties>
</file>